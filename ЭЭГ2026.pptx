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9" r:id="rId15"/>
    <p:sldId id="268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9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5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E0CE34-6105-4F61-B08E-DBA00E7BA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50911F-5920-4D5C-8A1E-3C9A595CBB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60DE47-0598-4257-8977-72AD5BF8C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93B10-EB58-49D2-B695-CEDDDD6615C2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D9AC90-35E3-45AC-9BFB-E93D4633B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9EC9FD-0597-4248-A176-DA8777DBC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ADF35-2A81-4E52-8C29-B6CA36D6F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087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A46EE-13AF-4E8B-8D01-4DA613867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138E7D-94C0-490A-BF20-EC38E5C2E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CB3A2C-B6C8-4DA5-A815-75CC44FED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93B10-EB58-49D2-B695-CEDDDD6615C2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C4093E-98E6-4650-8854-D26A4CE7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F2877A-B0E2-447F-8D5D-27F1FA9D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ADF35-2A81-4E52-8C29-B6CA36D6F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2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280D6-0B67-451B-AA8B-92CF793D0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575EFD-42C6-4333-9AE3-A8A5B03DE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960C58-EC77-4883-97C4-2523A02C8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93B10-EB58-49D2-B695-CEDDDD6615C2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7BC15A-8E88-41F5-9DFB-9AE639836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270C36-E866-46B9-AD69-C28357DEC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ADF35-2A81-4E52-8C29-B6CA36D6F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9255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21E513-D295-482E-A07D-EA08D10DB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1A2845-9C4A-4D4A-A34E-0107DA94D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5EA405-2ED0-4C84-B9AA-496D79B43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E6F489-A4A0-4E82-8B4A-A15B69441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93B10-EB58-49D2-B695-CEDDDD6615C2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51E8AF-F691-4F1B-867F-3D2B27B35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7D0F0C-0019-47F0-A6F7-05D702149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ADF35-2A81-4E52-8C29-B6CA36D6F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10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0EE4BB-F1B2-456A-9626-5493FA71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05A8F6-D3A0-4CFF-BBC9-86ABB4413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DF2743-EDE9-42BA-83A1-7B5291C0E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F27C1D4-D36C-42FD-87FA-F178F71EB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CA2DCBC-D1DB-4A7B-A5B6-78321433A5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95908FA-EAE8-4AAD-B1FF-3634A836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93B10-EB58-49D2-B695-CEDDDD6615C2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0EBC107-AB5A-42AA-901C-F34879581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051DEC7-BE80-45A9-9E1D-E36F3B570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ADF35-2A81-4E52-8C29-B6CA36D6F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291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188E28-E3C9-4B5A-BE91-E1A6A65F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CB3266-6724-4F40-9CAD-6B11CAA3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93B10-EB58-49D2-B695-CEDDDD6615C2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616B7ED-F683-431F-B6B9-DDD256F3D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452D10-7C4C-464D-8101-6EF56A38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ADF35-2A81-4E52-8C29-B6CA36D6F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35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D7373BC-D595-4952-9491-E23B196D8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93B10-EB58-49D2-B695-CEDDDD6615C2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1BC90EE-02B7-479D-9821-292627E65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B67B10-90D5-4FF2-8D9A-8A82B6CC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ADF35-2A81-4E52-8C29-B6CA36D6F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350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6E481E-F3B0-458D-A36B-EFCB1A7FC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86413B-2383-4DA4-8851-1DD7DA239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5CFE1C-E650-4969-82B7-8388FC38D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034200-DFDE-488E-A341-07D07951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93B10-EB58-49D2-B695-CEDDDD6615C2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7C993B-BED7-42DA-AAB4-8FD079197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756CFF-2868-4C5F-90FE-7D74C2C1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ADF35-2A81-4E52-8C29-B6CA36D6F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619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E431A6-70E7-46C7-A12C-27AE6621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C815160-0310-4758-A4FC-89FE16E4F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39F7AD-8760-41C7-9CFE-0E47932E0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FB5D3F9-DFF4-417F-A468-5504B2D8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93B10-EB58-49D2-B695-CEDDDD6615C2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98110B-F93E-4AFB-8347-3106F2DC8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BDA3B8-B2D8-4489-B4FF-90DE1E9E9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ADF35-2A81-4E52-8C29-B6CA36D6F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366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C4984-5663-4E0A-AECD-955348E51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960657-55A2-412B-ADA9-81AC50159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8B11B7-6E51-4367-8DE1-FE761A50F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93B10-EB58-49D2-B695-CEDDDD6615C2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12FD21-C024-444F-BC7C-CDE47E551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DD8082-B41F-4159-B72F-E6AD67C7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ADF35-2A81-4E52-8C29-B6CA36D6F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71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C859EB2-4469-4F53-8AC7-62F6D52C72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EA87827-676B-4F4E-B11B-975CAF08B6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EC8C2A-6BED-40CD-9708-1F4A2C4E9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93B10-EB58-49D2-B695-CEDDDD6615C2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B02CC5-129B-44AD-991F-D13C34F95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FF58D7-5406-4DB0-9F8D-4D4457610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ADF35-2A81-4E52-8C29-B6CA36D6F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04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640748-1968-4366-BEAD-153CF821B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8E9FA7-1A45-4B36-A935-FD20E7A1F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4A6130-6529-48C6-801E-0352B6107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93B10-EB58-49D2-B695-CEDDDD6615C2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2CC716-DA2A-4130-9A44-F09D8FA8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B06DDD-769A-43BA-8598-7E49D3252A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ADF35-2A81-4E52-8C29-B6CA36D6F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138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FB34E1-A182-4573-83D8-A407D57F7E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ЭЭГ и </a:t>
            </a:r>
            <a:br>
              <a:rPr lang="ru-RU" dirty="0"/>
            </a:br>
            <a:r>
              <a:rPr lang="ru-RU" dirty="0"/>
              <a:t>распознавание эмоций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E09722-1E9C-44C0-A657-522480C4E9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6731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D166C3-2BF6-45F1-A7B4-0227BE392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ЭЭГ?</a:t>
            </a:r>
          </a:p>
        </p:txBody>
      </p:sp>
      <p:pic>
        <p:nvPicPr>
          <p:cNvPr id="1028" name="Picture 4" descr="Epilepsie - das Gewitter im Gehirn">
            <a:extLst>
              <a:ext uri="{FF2B5EF4-FFF2-40B4-BE49-F238E27FC236}">
                <a16:creationId xmlns:a16="http://schemas.microsoft.com/office/drawing/2014/main" id="{07BCAE50-670D-43B2-9D3F-F73F1C821B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747" y="2454214"/>
            <a:ext cx="5495926" cy="274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CA0876-6776-40F3-B34B-B8441A2CEC7D}"/>
              </a:ext>
            </a:extLst>
          </p:cNvPr>
          <p:cNvSpPr txBox="1"/>
          <p:nvPr/>
        </p:nvSpPr>
        <p:spPr>
          <a:xfrm>
            <a:off x="719020" y="1622087"/>
            <a:ext cx="52362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Запись активности головного мозга с помощью электродов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Бывает неинвазивный и инвазивный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Результирующий сигнал – смесь импульсов из разных источников</a:t>
            </a:r>
          </a:p>
        </p:txBody>
      </p:sp>
    </p:spTree>
    <p:extLst>
      <p:ext uri="{BB962C8B-B14F-4D97-AF65-F5344CB8AC3E}">
        <p14:creationId xmlns:p14="http://schemas.microsoft.com/office/powerpoint/2010/main" val="3402009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98A019-29D7-4B14-9CE3-B521C2A4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ЭЭГ показывает?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205AEE-B85E-4BEE-BA3A-18D9FC900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ru-RU" dirty="0"/>
              <a:t>Сигнал электрода – это разница потенциалов между двумя точками на голове</a:t>
            </a:r>
          </a:p>
          <a:p>
            <a:r>
              <a:rPr lang="ru-RU" dirty="0"/>
              <a:t>Благодаря динамике этого сигнала можно сделать:</a:t>
            </a:r>
          </a:p>
          <a:p>
            <a:pPr lvl="1"/>
            <a:r>
              <a:rPr lang="ru-RU" dirty="0"/>
              <a:t>Диагностику заболеваний</a:t>
            </a:r>
            <a:r>
              <a:rPr lang="en-US" dirty="0"/>
              <a:t>,</a:t>
            </a:r>
            <a:endParaRPr lang="ru-RU" dirty="0"/>
          </a:p>
          <a:p>
            <a:pPr lvl="1"/>
            <a:r>
              <a:rPr lang="ru-RU" dirty="0"/>
              <a:t>Отследить реакцию на стимулы</a:t>
            </a:r>
            <a:r>
              <a:rPr lang="en-US" dirty="0"/>
              <a:t>,</a:t>
            </a:r>
            <a:endParaRPr lang="ru-RU" dirty="0"/>
          </a:p>
          <a:p>
            <a:pPr lvl="1"/>
            <a:r>
              <a:rPr lang="ru-RU" dirty="0"/>
              <a:t>Определить состояние человека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</p:txBody>
      </p:sp>
      <p:pic>
        <p:nvPicPr>
          <p:cNvPr id="2052" name="Picture 4" descr="ЭЭГ: норма и нарушения">
            <a:extLst>
              <a:ext uri="{FF2B5EF4-FFF2-40B4-BE49-F238E27FC236}">
                <a16:creationId xmlns:a16="http://schemas.microsoft.com/office/drawing/2014/main" id="{0BDAA7AE-0F13-47E2-83E1-669352A47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85" y="1960562"/>
            <a:ext cx="595690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1366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2328C4-8155-48AF-AC92-0CB0EB69F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Каналы ЭЭГ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1C49F-BAD7-433A-BE96-00E9BBFE2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ru-RU" dirty="0"/>
              <a:t>Стандартные точки на поверхности головы согласно принятому «монтажу»</a:t>
            </a:r>
          </a:p>
          <a:p>
            <a:r>
              <a:rPr lang="ru-RU" dirty="0"/>
              <a:t>Чаще всего покрывают всю поверхность головы</a:t>
            </a:r>
          </a:p>
          <a:p>
            <a:r>
              <a:rPr lang="ru-RU" dirty="0"/>
              <a:t>Различные области могут быть более или менее информативные для конкретной задачи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F38220A-6CA0-4556-AE27-B82D91B82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552" y="1715466"/>
            <a:ext cx="6095541" cy="457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886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4EA42F-271C-466C-BB73-93D40043B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извлекают из сигнала?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0AA2A0-7F87-4974-8E9D-CB4EA0787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Спектральные характеристики – анализ частотной составляющей сигнала, распределение мощности по полосам</a:t>
            </a:r>
            <a:r>
              <a:rPr lang="en-US" dirty="0"/>
              <a:t>;</a:t>
            </a:r>
          </a:p>
          <a:p>
            <a:r>
              <a:rPr lang="ru-RU" dirty="0"/>
              <a:t>Временные характеристики </a:t>
            </a:r>
            <a:r>
              <a:rPr lang="en-US" dirty="0"/>
              <a:t>– </a:t>
            </a:r>
            <a:r>
              <a:rPr lang="ru-RU" dirty="0"/>
              <a:t>динамика сигнала, время реакции</a:t>
            </a:r>
            <a:r>
              <a:rPr lang="en-US" dirty="0"/>
              <a:t>;</a:t>
            </a:r>
          </a:p>
          <a:p>
            <a:r>
              <a:rPr lang="ru-RU" dirty="0"/>
              <a:t>Пространственные характеристики – согласованность различных областей, фазовая синхронизация</a:t>
            </a:r>
            <a:r>
              <a:rPr lang="en-US" dirty="0"/>
              <a:t>;</a:t>
            </a:r>
          </a:p>
          <a:p>
            <a:r>
              <a:rPr lang="ru-RU" dirty="0"/>
              <a:t>Структура сигнала – сложность, энтропия.</a:t>
            </a:r>
          </a:p>
        </p:txBody>
      </p:sp>
    </p:spTree>
    <p:extLst>
      <p:ext uri="{BB962C8B-B14F-4D97-AF65-F5344CB8AC3E}">
        <p14:creationId xmlns:p14="http://schemas.microsoft.com/office/powerpoint/2010/main" val="1647773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3F8C3-67E5-4394-B20C-B48D420C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Показатели. Плотность спектральной мощности.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10C157-E581-4FF5-8F75-305047317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518140" cy="4351338"/>
          </a:xfrm>
        </p:spPr>
        <p:txBody>
          <a:bodyPr/>
          <a:lstStyle/>
          <a:p>
            <a:r>
              <a:rPr lang="ru-RU" dirty="0"/>
              <a:t>Сигнал раскладывается на частотные составляющие и определяется их мощность </a:t>
            </a:r>
          </a:p>
          <a:p>
            <a:endParaRPr lang="ru-RU" dirty="0"/>
          </a:p>
        </p:txBody>
      </p:sp>
      <p:pic>
        <p:nvPicPr>
          <p:cNvPr id="3076" name="Picture 4" descr="EEG – Still Breathing">
            <a:extLst>
              <a:ext uri="{FF2B5EF4-FFF2-40B4-BE49-F238E27FC236}">
                <a16:creationId xmlns:a16="http://schemas.microsoft.com/office/drawing/2014/main" id="{852E5AC9-2763-4773-94FC-11D117450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915" y="1825624"/>
            <a:ext cx="7577989" cy="414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348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3F8C3-67E5-4394-B20C-B48D420C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Показатели. Ритмы ЭЭГ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10C157-E581-4FF5-8F75-305047317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518140" cy="4351338"/>
          </a:xfrm>
        </p:spPr>
        <p:txBody>
          <a:bodyPr/>
          <a:lstStyle/>
          <a:p>
            <a:r>
              <a:rPr lang="ru-RU" dirty="0"/>
              <a:t>Полный частотный спектр сигнала делят на ритмы (полосы).</a:t>
            </a:r>
          </a:p>
          <a:p>
            <a:r>
              <a:rPr lang="ru-RU" dirty="0"/>
              <a:t>По соотношению мощности полос можно характеризовать состояние человека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08C15F-46A3-48ED-94FB-22A1F94FCD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758"/>
          <a:stretch/>
        </p:blipFill>
        <p:spPr>
          <a:xfrm>
            <a:off x="4856672" y="1479086"/>
            <a:ext cx="7109603" cy="501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450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371A2A-E72D-4304-AB3D-21EAFD75A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Показатели. Потенциал вызванный событием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594EAC-30CC-4D86-A515-3FE1A8774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98034" cy="4351338"/>
          </a:xfrm>
        </p:spPr>
        <p:txBody>
          <a:bodyPr/>
          <a:lstStyle/>
          <a:p>
            <a:r>
              <a:rPr lang="ru-RU" dirty="0"/>
              <a:t>Головной мозг может ярко реагировать на определенные стимулы</a:t>
            </a:r>
          </a:p>
          <a:p>
            <a:r>
              <a:rPr lang="ru-RU" dirty="0"/>
              <a:t>Измерение характеристик отклика может характеризовать болезни/состояние человека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8847A4B-B553-4E1D-AF49-95929CF6AA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345" b="9158"/>
          <a:stretch/>
        </p:blipFill>
        <p:spPr>
          <a:xfrm>
            <a:off x="5349458" y="2283275"/>
            <a:ext cx="6530553" cy="389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99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F1E7A-2B06-4AE5-94AE-0D96ADDD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Показатели. Согласованность.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B2DC8A-26BF-4B0A-AF2B-A863E378E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24245" cy="4351338"/>
          </a:xfrm>
        </p:spPr>
        <p:txBody>
          <a:bodyPr/>
          <a:lstStyle/>
          <a:p>
            <a:r>
              <a:rPr lang="ru-RU" dirty="0"/>
              <a:t>Различные области головы могут вести себя по-разному в одной и той же задаче.</a:t>
            </a:r>
          </a:p>
          <a:p>
            <a:r>
              <a:rPr lang="ru-RU" dirty="0"/>
              <a:t>Можно сравнивать не только электроды отдельно, но их связи.</a:t>
            </a:r>
          </a:p>
        </p:txBody>
      </p:sp>
      <p:pic>
        <p:nvPicPr>
          <p:cNvPr id="5122" name="Picture 2" descr="EEG Hacker: Breathing Meditation - Alpha Coherence">
            <a:extLst>
              <a:ext uri="{FF2B5EF4-FFF2-40B4-BE49-F238E27FC236}">
                <a16:creationId xmlns:a16="http://schemas.microsoft.com/office/drawing/2014/main" id="{CB0779B3-541C-4D4F-BB09-C477C7F2F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509" y="1745486"/>
            <a:ext cx="5757532" cy="451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147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9F362A-1858-44AD-A0DB-BEDCDCA8B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Показатели. Энтропия.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88293D-6174-40B1-A9A3-45A41366D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37649" cy="4238745"/>
          </a:xfrm>
        </p:spPr>
        <p:txBody>
          <a:bodyPr/>
          <a:lstStyle/>
          <a:p>
            <a:r>
              <a:rPr lang="ru-RU" dirty="0"/>
              <a:t>Энтропия показывает степень хаотичности, непредсказуемости сигнала</a:t>
            </a:r>
          </a:p>
          <a:p>
            <a:r>
              <a:rPr lang="ru-RU" dirty="0"/>
              <a:t>Это может характеризовать активность определенных зон мозга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8AE3A1-70B8-4A4C-9979-58441FEBC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930" y="2510285"/>
            <a:ext cx="7203070" cy="283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596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7E973-0350-44DF-B87B-61279F319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Шум в сигнале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5651D2-474E-48D3-80FA-408E9C66B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высокочувствительные электроды могут влиять внешние сигналы:</a:t>
            </a:r>
          </a:p>
          <a:p>
            <a:pPr lvl="1"/>
            <a:r>
              <a:rPr lang="ru-RU" dirty="0"/>
              <a:t>Электрическая сеть</a:t>
            </a:r>
          </a:p>
          <a:p>
            <a:pPr lvl="1"/>
            <a:r>
              <a:rPr lang="ru-RU" dirty="0"/>
              <a:t>Движения человека</a:t>
            </a:r>
          </a:p>
          <a:p>
            <a:pPr lvl="1"/>
            <a:r>
              <a:rPr lang="ru-RU" dirty="0"/>
              <a:t>Движения глазами</a:t>
            </a:r>
          </a:p>
          <a:p>
            <a:pPr lvl="1"/>
            <a:r>
              <a:rPr lang="ru-RU" dirty="0"/>
              <a:t>Плохой контакт</a:t>
            </a:r>
          </a:p>
        </p:txBody>
      </p:sp>
    </p:spTree>
    <p:extLst>
      <p:ext uri="{BB962C8B-B14F-4D97-AF65-F5344CB8AC3E}">
        <p14:creationId xmlns:p14="http://schemas.microsoft.com/office/powerpoint/2010/main" val="286525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CA0426-42DE-4F9A-9FCB-64E5F1F8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Фильтрация шума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0E3661-A712-4AB1-B3F2-5350C24A0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Поэтому, для очистки сигнала используют методы фильтрации:</a:t>
            </a:r>
          </a:p>
          <a:p>
            <a:pPr lvl="1"/>
            <a:r>
              <a:rPr lang="ru-RU" dirty="0"/>
              <a:t>Частотные фильтры</a:t>
            </a:r>
          </a:p>
          <a:p>
            <a:pPr lvl="1"/>
            <a:r>
              <a:rPr lang="ru-RU" dirty="0"/>
              <a:t>Метод независимых компонент</a:t>
            </a:r>
          </a:p>
          <a:p>
            <a:pPr lvl="1"/>
            <a:r>
              <a:rPr lang="ru-RU" dirty="0"/>
              <a:t>Интерполяция и удаление каналов</a:t>
            </a:r>
          </a:p>
        </p:txBody>
      </p:sp>
    </p:spTree>
    <p:extLst>
      <p:ext uri="{BB962C8B-B14F-4D97-AF65-F5344CB8AC3E}">
        <p14:creationId xmlns:p14="http://schemas.microsoft.com/office/powerpoint/2010/main" val="1241044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87619-82D0-46DA-B211-91E85CB5B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Нормализация сигнала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81E3F5-0302-405B-BF88-EF6D6B4DA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Каждая запись ЭЭГ сильно отличается между людьми и между сессиями человека</a:t>
            </a:r>
          </a:p>
          <a:p>
            <a:r>
              <a:rPr lang="ru-RU" dirty="0"/>
              <a:t>Требуется привести их единому виду, чтобы исключить вариативность без потери полезной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2038562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DF64FD-6F18-4E4E-BF59-1995EB78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сигнала. Машинное обучение.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16ADED-230A-43E2-8FBC-F918E33A1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Классификация сигнала может быть:</a:t>
            </a:r>
          </a:p>
          <a:p>
            <a:pPr lvl="1"/>
            <a:r>
              <a:rPr lang="ru-RU" dirty="0"/>
              <a:t>По предварительно посчитанным показателям (ритмы, энтропия и т.д.)</a:t>
            </a:r>
          </a:p>
          <a:p>
            <a:pPr lvl="1"/>
            <a:r>
              <a:rPr lang="ru-RU" dirty="0"/>
              <a:t>По сырым данным с нормализацией</a:t>
            </a:r>
          </a:p>
          <a:p>
            <a:pPr lvl="1"/>
            <a:r>
              <a:rPr lang="ru-RU" dirty="0"/>
              <a:t>Комбинированная</a:t>
            </a:r>
          </a:p>
        </p:txBody>
      </p:sp>
    </p:spTree>
    <p:extLst>
      <p:ext uri="{BB962C8B-B14F-4D97-AF65-F5344CB8AC3E}">
        <p14:creationId xmlns:p14="http://schemas.microsoft.com/office/powerpoint/2010/main" val="2979876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C10A3-3C68-44C8-AB75-D2258F0D5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2A953D-2BA2-4B88-A37A-4C68E2092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803" y="2394968"/>
            <a:ext cx="4630947" cy="4351338"/>
          </a:xfrm>
        </p:spPr>
        <p:txBody>
          <a:bodyPr/>
          <a:lstStyle/>
          <a:p>
            <a:r>
              <a:rPr lang="en-US" dirty="0"/>
              <a:t>15 </a:t>
            </a:r>
            <a:r>
              <a:rPr lang="ru-RU" dirty="0"/>
              <a:t>человек</a:t>
            </a:r>
          </a:p>
          <a:p>
            <a:r>
              <a:rPr lang="ru-RU" dirty="0"/>
              <a:t>62 канала ЭЭГ</a:t>
            </a:r>
          </a:p>
          <a:p>
            <a:r>
              <a:rPr lang="ru-RU" dirty="0"/>
              <a:t>Показывали видеоклипы, которые должны вызывать эмоции</a:t>
            </a:r>
          </a:p>
          <a:p>
            <a:r>
              <a:rPr lang="ru-RU" dirty="0"/>
              <a:t>Получили самооценку – положительная, нейтральная или отрицательная эмоция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B5C984-0302-43B7-91FF-771EBF476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129" y="2394968"/>
            <a:ext cx="6444962" cy="38905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C451EF-5538-4166-825A-F0594B8633E4}"/>
              </a:ext>
            </a:extLst>
          </p:cNvPr>
          <p:cNvSpPr txBox="1"/>
          <p:nvPr/>
        </p:nvSpPr>
        <p:spPr>
          <a:xfrm>
            <a:off x="708803" y="1539430"/>
            <a:ext cx="107743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Цель – научиться классифицировать эмоцию по ЭЭГ.</a:t>
            </a:r>
          </a:p>
          <a:p>
            <a:endParaRPr lang="ru-RU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2326757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366</Words>
  <Application>Microsoft Office PowerPoint</Application>
  <PresentationFormat>Широкоэкранный</PresentationFormat>
  <Paragraphs>61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ЭЭГ и  распознавание эмоций</vt:lpstr>
      <vt:lpstr>Что такое ЭЭГ?</vt:lpstr>
      <vt:lpstr>Что ЭЭГ показывает?</vt:lpstr>
      <vt:lpstr>Каналы ЭЭГ</vt:lpstr>
      <vt:lpstr>Что извлекают из сигнала?</vt:lpstr>
      <vt:lpstr>Показатели. Плотность спектральной мощности.</vt:lpstr>
      <vt:lpstr>Показатели. Ритмы ЭЭГ </vt:lpstr>
      <vt:lpstr>Показатели. Потенциал вызванный событием</vt:lpstr>
      <vt:lpstr>Показатели. Согласованность.</vt:lpstr>
      <vt:lpstr>Показатели. Энтропия.</vt:lpstr>
      <vt:lpstr>Шум в сигнале</vt:lpstr>
      <vt:lpstr>Фильтрация шума</vt:lpstr>
      <vt:lpstr>Нормализация сигнала</vt:lpstr>
      <vt:lpstr>Классификация сигнала. Машинное обучение.</vt:lpstr>
      <vt:lpstr>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Романюк Владимир</dc:creator>
  <cp:lastModifiedBy>Романюк Владимир</cp:lastModifiedBy>
  <cp:revision>10</cp:revision>
  <dcterms:created xsi:type="dcterms:W3CDTF">2026-09-03T11:17:02Z</dcterms:created>
  <dcterms:modified xsi:type="dcterms:W3CDTF">2026-09-03T13:49:30Z</dcterms:modified>
</cp:coreProperties>
</file>